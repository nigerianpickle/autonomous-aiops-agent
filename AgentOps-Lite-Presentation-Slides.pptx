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9418320" cy="393192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9418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5394960"/>
            <a:ext cx="9418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8503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dirty="0">
                <a:solidFill>
                  <a:srgbClr val="00D4FF"/>
                </a:solidFill>
                <a:latin typeface="Courier New"/>
              </a:rPr>
              <a:t>AGENTOP</a:t>
            </a:r>
            <a:r>
              <a:rPr lang="en-US" sz="5400" b="1" dirty="0">
                <a:solidFill>
                  <a:srgbClr val="00D4FF"/>
                </a:solidFill>
                <a:latin typeface="Courier New"/>
              </a:rPr>
              <a:t>S</a:t>
            </a:r>
            <a:endParaRPr sz="5400" b="1" dirty="0">
              <a:solidFill>
                <a:srgbClr val="00D4FF"/>
              </a:solidFill>
              <a:latin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Autonomous AIOps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37560"/>
            <a:ext cx="850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8B97A6"/>
                </a:solidFill>
                <a:latin typeface="Calibri"/>
              </a:rPr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77A"/>
                </a:solidFill>
                <a:latin typeface="Calibri"/>
              </a:rPr>
              <a:t>FCT Summer Student Program  |  AI Challenge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0DA51-EFA8-0BF8-7E18-06B5C3875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63649E-8935-18C8-0489-48EB4BA2590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18C4D2-EFFA-30E1-48C4-4F46997165B6}"/>
              </a:ext>
            </a:extLst>
          </p:cNvPr>
          <p:cNvSpPr/>
          <p:nvPr/>
        </p:nvSpPr>
        <p:spPr>
          <a:xfrm>
            <a:off x="1371600" y="1463040"/>
            <a:ext cx="9985248" cy="4855464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35C9DC-C296-FBD6-67FD-C08706C01FC1}"/>
              </a:ext>
            </a:extLst>
          </p:cNvPr>
          <p:cNvSpPr/>
          <p:nvPr/>
        </p:nvSpPr>
        <p:spPr>
          <a:xfrm>
            <a:off x="1371600" y="1463040"/>
            <a:ext cx="9418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D4B37F-1BB3-2F34-AAE7-769A6606CACB}"/>
              </a:ext>
            </a:extLst>
          </p:cNvPr>
          <p:cNvSpPr/>
          <p:nvPr/>
        </p:nvSpPr>
        <p:spPr>
          <a:xfrm>
            <a:off x="1398905" y="6291991"/>
            <a:ext cx="9418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88B61-C7AC-CDE7-BA99-611851EF8155}"/>
              </a:ext>
            </a:extLst>
          </p:cNvPr>
          <p:cNvSpPr txBox="1"/>
          <p:nvPr/>
        </p:nvSpPr>
        <p:spPr>
          <a:xfrm>
            <a:off x="-182880" y="74142"/>
            <a:ext cx="6784848" cy="954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0D4FF"/>
                </a:solidFill>
                <a:latin typeface="Courier New"/>
              </a:rPr>
              <a:t>Disclaimer</a:t>
            </a:r>
            <a:endParaRPr sz="5400" b="1" dirty="0">
              <a:solidFill>
                <a:srgbClr val="00D4FF"/>
              </a:solidFill>
              <a:latin typeface="Courier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E07F4F-4913-281C-E0EF-5091548DAE50}"/>
              </a:ext>
            </a:extLst>
          </p:cNvPr>
          <p:cNvSpPr txBox="1"/>
          <p:nvPr/>
        </p:nvSpPr>
        <p:spPr>
          <a:xfrm>
            <a:off x="1828800" y="3337560"/>
            <a:ext cx="850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8B97A6"/>
                </a:solidFill>
                <a:latin typeface="Calibri"/>
              </a:rPr>
              <a:t>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77F290-F22E-143A-BA78-83E880E093DB}"/>
              </a:ext>
            </a:extLst>
          </p:cNvPr>
          <p:cNvSpPr txBox="1"/>
          <p:nvPr/>
        </p:nvSpPr>
        <p:spPr>
          <a:xfrm>
            <a:off x="1568196" y="1529903"/>
            <a:ext cx="48508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 Tooling Disclosure</a:t>
            </a:r>
          </a:p>
          <a:p>
            <a:r>
              <a:rPr lang="en-US" dirty="0">
                <a:solidFill>
                  <a:schemeClr val="bg1"/>
                </a:solidFill>
              </a:rPr>
              <a:t>Core architecture, anomaly detection logic, LLM prompting, and orchestration were designed and implemented independently.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AI tools were used selectively to assist with UI boilerplate and accelerate front-end development after an initial CLI dashboard was completed.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AI was used as a productivity tool; not as a substitute for system design or core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521580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D4FF"/>
                </a:solidFill>
                <a:latin typeface="Courier New"/>
              </a:rPr>
              <a:t>AGENTOPS-LITE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8B97A6"/>
                </a:solidFill>
                <a:latin typeface="Calibri"/>
              </a:rPr>
              <a:t>How do you monitor systems that change?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394960" cy="530352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5394960" cy="25400"/>
          </a:xfrm>
          <a:prstGeom prst="rect">
            <a:avLst/>
          </a:prstGeom>
          <a:solidFill>
            <a:srgbClr val="FF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115568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4455"/>
                </a:solidFill>
                <a:latin typeface="Courier New"/>
              </a:rPr>
              <a:t> TRADITIONAL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Alert if CPU &gt; 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92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Alert if latency &gt; 500ms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854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Alert if error rate &gt; 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15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Problems: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07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8B97A6"/>
                </a:solidFill>
                <a:latin typeface="Calibri"/>
              </a:rPr>
              <a:t>  · Hardcoded — breaks when system </a:t>
            </a:r>
            <a:r>
              <a:rPr sz="1100" b="0" dirty="0" err="1">
                <a:solidFill>
                  <a:srgbClr val="8B97A6"/>
                </a:solidFill>
                <a:latin typeface="Calibri"/>
              </a:rPr>
              <a:t>behaviour</a:t>
            </a:r>
            <a:r>
              <a:rPr sz="1100" b="0" dirty="0">
                <a:solidFill>
                  <a:srgbClr val="8B97A6"/>
                </a:solidFill>
                <a:latin typeface="Calibri"/>
              </a:rPr>
              <a:t>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82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  · Context-blind — same threshold for every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56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  · Noisy — floods operators with false positives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8B97A6"/>
                </a:solidFill>
                <a:latin typeface="Calibri"/>
              </a:rPr>
              <a:t>  · Brittle — misses gradual degradation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005840"/>
            <a:ext cx="5394960" cy="530352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005840"/>
            <a:ext cx="539496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115568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00FF88"/>
                </a:solidFill>
                <a:latin typeface="Courier New"/>
              </a:rPr>
              <a:t>AGENTOPS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Learn what normal looks like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892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▸  Detect deviations from that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1854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Reason about root cause with an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615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Benefits: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907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  · Adaptive — baseline evolves with the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82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  · Context-aware — normal is defined per-app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456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  · Intelligent — LLM explains what and why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730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  · Autonomous — no human intervention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474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8677A"/>
                </a:solidFill>
                <a:latin typeface="Courier New"/>
              </a:rPr>
              <a:t>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D4FF"/>
                </a:solidFill>
                <a:latin typeface="Courier New"/>
              </a:rPr>
              <a:t>AGENTOPS-LITE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8B97A6"/>
                </a:solidFill>
                <a:latin typeface="Calibri"/>
              </a:rPr>
              <a:t>Four components, one closed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2560320" cy="201168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2560320" cy="25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115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C00"/>
                </a:solidFill>
                <a:latin typeface="Courier New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App Simulator
+ Fault Injector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005840"/>
            <a:ext cx="2560320" cy="201168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63240" y="1005840"/>
            <a:ext cx="2560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1115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urier New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Layer 1: Stats
Layer 2: 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005840"/>
            <a:ext cx="2560320" cy="201168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06440" y="1005840"/>
            <a:ext cx="256032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97880" y="1115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Courier New"/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Control Loop
Logging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1005840"/>
            <a:ext cx="2560320" cy="201168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9640" y="1005840"/>
            <a:ext cx="256032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41080" y="1115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88"/>
                </a:solidFill>
                <a:latin typeface="Courier New"/>
              </a:rPr>
              <a:t>UI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Web Dashboard
Terminal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8677A"/>
                </a:solidFill>
                <a:latin typeface="Courier New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0992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8677A"/>
                </a:solidFill>
                <a:latin typeface="Courier New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8677A"/>
                </a:solidFill>
                <a:latin typeface="Courier New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1546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8677A"/>
                </a:solidFill>
                <a:latin typeface="Calibri"/>
              </a:rPr>
              <a:t>↺  closed loop — runs autonomously every step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566160"/>
            <a:ext cx="3749039" cy="27432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3566160"/>
            <a:ext cx="3749039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67588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urier New"/>
              </a:rPr>
              <a:t>SIMULATION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02336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CPU, Memory, Latency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2976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Error Rate, Traffic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7200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3 fault types injected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4632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probabilistically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566160"/>
            <a:ext cx="3749039" cy="27432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06240" y="3566160"/>
            <a:ext cx="3749039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0" y="367588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urier New"/>
              </a:rPr>
              <a:t>TWO-LAYER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2336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▸  Stats: z-score on 30-step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976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▸  rolling window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57200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▸  LLM: structured prompt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84632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→ JSON diagnosis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3566160"/>
            <a:ext cx="3749039" cy="27432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92440" y="3566160"/>
            <a:ext cx="3749039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20" y="367588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urier New"/>
              </a:rPr>
              <a:t>DUAL 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02336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▸  Flask SSE web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2976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▸  Rich terminal 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57200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▸  Both update live,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84632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simultaneously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D4FF"/>
                </a:solidFill>
                <a:latin typeface="Courier New"/>
              </a:rPr>
              <a:t>AGENTOPS-LITE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Layer 1 — Statistical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8B97A6"/>
                </a:solidFill>
                <a:latin typeface="Calibri"/>
              </a:rPr>
              <a:t>Unsupervised ML · Runs every step · No API calls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521440" cy="118872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115214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00D4FF"/>
                </a:solidFill>
                <a:latin typeface="Courier New"/>
              </a:rPr>
              <a:t>z  =  ( </a:t>
            </a:r>
            <a:r>
              <a:rPr sz="2600" b="1" dirty="0" err="1">
                <a:solidFill>
                  <a:srgbClr val="00D4FF"/>
                </a:solidFill>
                <a:latin typeface="Courier New"/>
              </a:rPr>
              <a:t>current_value</a:t>
            </a:r>
            <a:r>
              <a:rPr sz="2600" b="1" dirty="0">
                <a:solidFill>
                  <a:srgbClr val="00D4FF"/>
                </a:solidFill>
                <a:latin typeface="Courier New"/>
              </a:rPr>
              <a:t>  −  </a:t>
            </a:r>
            <a:r>
              <a:rPr sz="2600" b="1" dirty="0" err="1">
                <a:solidFill>
                  <a:srgbClr val="00D4FF"/>
                </a:solidFill>
                <a:latin typeface="Courier New"/>
              </a:rPr>
              <a:t>rolling_mean</a:t>
            </a:r>
            <a:r>
              <a:rPr sz="2600" b="1" dirty="0">
                <a:solidFill>
                  <a:srgbClr val="00D4FF"/>
                </a:solidFill>
                <a:latin typeface="Courier New"/>
              </a:rPr>
              <a:t> )  /  </a:t>
            </a:r>
            <a:r>
              <a:rPr sz="2600" b="1" dirty="0" err="1">
                <a:solidFill>
                  <a:srgbClr val="00D4FF"/>
                </a:solidFill>
                <a:latin typeface="Courier New"/>
              </a:rPr>
              <a:t>rolling_std</a:t>
            </a:r>
            <a:endParaRPr sz="2600" b="1" dirty="0">
              <a:solidFill>
                <a:srgbClr val="00D4FF"/>
              </a:solidFill>
              <a:latin typeface="Courier New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17373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CC00"/>
                </a:solidFill>
                <a:latin typeface="Courier New"/>
              </a:rPr>
              <a:t>if  z  &gt;  2.0  →  ANOMALY DETECTED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31720"/>
            <a:ext cx="3749039" cy="420624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331720"/>
            <a:ext cx="3749039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44144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urier New"/>
              </a:rPr>
              <a:t>ROLLING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Last 30 observations per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6324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Oldest value drops off automatically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3756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Baseline always reflects recent behaviour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▸  Never frozen — always adapting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331720"/>
            <a:ext cx="3749039" cy="420624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2331720"/>
            <a:ext cx="3749039" cy="25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244144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C00"/>
                </a:solidFill>
                <a:latin typeface="Courier New"/>
              </a:rPr>
              <a:t>WARMUP 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8892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First 10 steps: observe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06324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Build enough data to compute std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33756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Agent returns do_nothing during warmup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6118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Baseline ready at step 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2331720"/>
            <a:ext cx="3749039" cy="420624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2440" y="2331720"/>
            <a:ext cx="3749039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244144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88"/>
                </a:solidFill>
                <a:latin typeface="Courier New"/>
              </a:rPr>
              <a:t>WHY Z-SCORE?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78892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No hardcoded thresholds anywhere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06324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2.0σ = top 2.5% statistically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33756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Same code works for any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6118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Adapts if app behaviour changes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446520"/>
            <a:ext cx="11521440" cy="292608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D4FF"/>
                </a:solidFill>
                <a:latin typeface="Courier New"/>
              </a:rPr>
              <a:t>AGENTOPS-LITE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Layer 2 — LLM-Powered 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Prompt engineering · Constrained generation · Structured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5029200" cy="539496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5029200" cy="25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C00"/>
                </a:solidFill>
                <a:latin typeface="Courier New"/>
              </a:rPr>
              <a:t>PROMPT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▸  Current metric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7A6"/>
                </a:solidFill>
                <a:latin typeface="Calibri"/>
              </a:rPr>
              <a:t>    CPU, memory, latency, error rate, 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2140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▸  Anomalous metrics + z-scores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5000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7A6"/>
                </a:solidFill>
                <a:latin typeface="Calibri"/>
              </a:rPr>
              <a:t>    Which metrics deviated and by how much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8833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▸  Learned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16936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7A6"/>
                </a:solidFill>
                <a:latin typeface="Calibri"/>
              </a:rPr>
              <a:t>    Mean + std for each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5526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▸  Last 5 steps of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8386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7A6"/>
                </a:solidFill>
                <a:latin typeface="Calibri"/>
              </a:rPr>
              <a:t>    Trajectory — is it sudden or gradual?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221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▸  Constrained output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5079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7A6"/>
                </a:solidFill>
                <a:latin typeface="Calibri"/>
              </a:rPr>
              <a:t>    Fixed JSON format, enum of valid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0D4FF"/>
                </a:solidFill>
                <a:latin typeface="Courier New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005840"/>
            <a:ext cx="5943600" cy="539496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0" y="1005840"/>
            <a:ext cx="594360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11155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88"/>
                </a:solidFill>
                <a:latin typeface="Courier New"/>
              </a:rPr>
              <a:t>STRUCTURED JSON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5544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88"/>
                </a:solidFill>
                <a:latin typeface="Courier New"/>
              </a:rPr>
              <a:t>{
  "incident_type": "service_crash",
  "confidence":    "high",
  "reasoning":     "Error rate jumped to 0.21
                    (3.16σ above baseline of 0.01).
                    Latency at 385ms (2.72σ).
                    Classic crash signature.",
  "action":        "restart_service",
  "action_reasoning": "Restarting clears error
                    state and restores latency
                    fastest."
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46520"/>
            <a:ext cx="11521440" cy="292608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45566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FF"/>
                </a:solidFill>
                <a:latin typeface="Courier New"/>
              </a:rPr>
              <a:t>LLM only called when Layer 1 confirms anomaly  —  3-5 API calls per 50-step run, not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D4FF"/>
                </a:solidFill>
                <a:latin typeface="Courier New"/>
              </a:rPr>
              <a:t>AGENTOPS-LITE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Agent Decision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Every step, fully autonomous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2011680" cy="256032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051560"/>
            <a:ext cx="20116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87451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Read telemetry
from simulator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051560"/>
            <a:ext cx="2011680" cy="256032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14600" y="1051560"/>
            <a:ext cx="2011680" cy="25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4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CC00"/>
                </a:solidFill>
                <a:latin typeface="Courier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WARMUP?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187451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Still building
baseline → wait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51560"/>
            <a:ext cx="2011680" cy="256032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1051560"/>
            <a:ext cx="20116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ourier New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87451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Z-score check
on all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1051560"/>
            <a:ext cx="2011680" cy="256032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12280" y="1051560"/>
            <a:ext cx="201168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372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Courier New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DIAGNOSE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187451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Anomaly found
→ call LLM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051560"/>
            <a:ext cx="2011680" cy="256032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961120" y="1051560"/>
            <a:ext cx="201168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5256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FF88"/>
                </a:solidFill>
                <a:latin typeface="Courier New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187451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Apply action
to environment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09960" y="1076960"/>
            <a:ext cx="950976" cy="248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109960" y="1051560"/>
            <a:ext cx="2011680" cy="25400"/>
          </a:xfrm>
          <a:prstGeom prst="rect">
            <a:avLst/>
          </a:prstGeom>
          <a:solidFill>
            <a:srgbClr val="58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20140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8677A"/>
                </a:solidFill>
                <a:latin typeface="Courier New"/>
              </a:rPr>
              <a:t>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REPEAT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19688" y="187451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Next step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3840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677A"/>
                </a:solidFill>
                <a:latin typeface="Courier New"/>
              </a:rPr>
              <a:t>AVAILABLE ACTIONS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206240"/>
            <a:ext cx="3566160" cy="25146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5760" y="4206240"/>
            <a:ext cx="3566160" cy="25400"/>
          </a:xfrm>
          <a:prstGeom prst="rect">
            <a:avLst/>
          </a:prstGeom>
          <a:solidFill>
            <a:srgbClr val="FF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4315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455"/>
                </a:solidFill>
                <a:latin typeface="Courier New"/>
              </a:rPr>
              <a:t>restart_service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Hard reset of error 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9377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Latency halved immediately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2120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Best for: service crashes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4206240"/>
            <a:ext cx="3566160" cy="25146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160520" y="4206240"/>
            <a:ext cx="3566160" cy="25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43400" y="4315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C00"/>
                </a:solidFill>
                <a:latin typeface="Courier New"/>
              </a:rPr>
              <a:t>scale_up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CPU reduced 25%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49377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Latency reduced 20%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52120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Best for: traffic spikes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4206240"/>
            <a:ext cx="3566160" cy="25146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955279" y="4206240"/>
            <a:ext cx="356616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38159" y="4315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88"/>
                </a:solidFill>
                <a:latin typeface="Courier New"/>
              </a:rPr>
              <a:t>do_nothing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59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No intervention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59" y="49377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Fault may self-heal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59" y="52120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Best for: transient blips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446520"/>
            <a:ext cx="11521440" cy="292608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645566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7A6"/>
                </a:solidFill>
                <a:latin typeface="Courier New"/>
              </a:rPr>
              <a:t>Graceful degradation: if LLM call fails → rule-based fallback fires automatically. System never crashes.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D4FF"/>
                </a:solidFill>
                <a:latin typeface="Courier New"/>
              </a:rPr>
              <a:t>AGENTOPS-LITE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Flask SSE · Opens automatically · No refresh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5669280" cy="246888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56692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urier New"/>
              </a:rPr>
              <a:t>METRIC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5 live cards — CPU, Memory, Latency,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Error Rate, 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Color coded: green → yellow → 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86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Red flash animation on anomaly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05840"/>
            <a:ext cx="5577840" cy="246888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005840"/>
            <a:ext cx="5577840" cy="25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1155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C00"/>
                </a:solidFill>
                <a:latin typeface="Courier New"/>
              </a:rPr>
              <a:t>LIVE 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4 Chart.js line charts updating every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CPU/Memory, Latency, Traffic, Error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116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▲ markers where faults injected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860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◆ markers where agent took 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57600"/>
            <a:ext cx="5669280" cy="265176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657600"/>
            <a:ext cx="566928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Courier New"/>
              </a:rPr>
              <a:t>LLM REASONING FEED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114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Card per incident with full LLM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89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Z-score chips showing which metrics triggered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6634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Action justification inline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9377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Scrollable — full session history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57600"/>
            <a:ext cx="5577840" cy="265176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3657600"/>
            <a:ext cx="557784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37673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88"/>
                </a:solidFill>
                <a:latin typeface="Courier New"/>
              </a:rPr>
              <a:t>INCIDENT TIMELINE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1148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Chronological log, newest first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89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Color coded by incident 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634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Step number, action, 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Fault banner flashes on injection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D4FF"/>
                </a:solidFill>
                <a:latin typeface="Courier New"/>
              </a:rPr>
              <a:t>AGENTOPS-LITE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Challenges &amp; Lessons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7A6"/>
                </a:solidFill>
                <a:latin typeface="Calibri"/>
              </a:rPr>
              <a:t>What went wrong, why, and how I'd fix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3749039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3749039" cy="25400"/>
          </a:xfrm>
          <a:prstGeom prst="rect">
            <a:avLst/>
          </a:prstGeom>
          <a:solidFill>
            <a:srgbClr val="FF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455"/>
                </a:solidFill>
                <a:latin typeface="Courier New"/>
              </a:rPr>
              <a:t>BASELINE CONTAMINATION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Problem: fault during warmup bakes elevated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33832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     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values into the 'normal'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Why it matters: skews detection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8600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Fix: seed baseline from historical clean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005840"/>
            <a:ext cx="3749039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06240" y="1005840"/>
            <a:ext cx="3749039" cy="25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111556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C00"/>
                </a:solidFill>
                <a:latin typeface="Courier New"/>
              </a:rPr>
              <a:t>LLM EFFICIENCY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46304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Problem: calling LLM every step = slow + expensive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73736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Fix: statistical layer gates LLM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0116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Result: 3-5 API calls per run instead of 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28600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Lesson: layer cheap filters before expensive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1005840"/>
            <a:ext cx="3749039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1005840"/>
            <a:ext cx="3749039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111556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Courier New"/>
              </a:rPr>
              <a:t>PROMPT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46304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Problem: vague prompts → vague diagnoses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73736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▸  Fix: inject baseline, z-scores, history, 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0116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▸  Result: LLM references specific values + reasons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28600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▸  Lesson: information density &gt; prompt length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172200"/>
            <a:ext cx="11521440" cy="54864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1996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677A"/>
                </a:solidFill>
                <a:latin typeface="Courier New"/>
              </a:rPr>
              <a:t>FUTURE IMPROVEMENTS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619963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7A6"/>
                </a:solidFill>
                <a:latin typeface="Calibri"/>
              </a:rPr>
              <a:t>Historical baseline seeding  ·  MTTD/MTTR tracking  ·  Multi-step remediation  ·  Real Kubernetes integration  ·  RL policy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9418320" cy="45720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418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5760720"/>
            <a:ext cx="9418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417320"/>
            <a:ext cx="8503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AgentOps-Lite demonstrates the full AIOps
incident lifecycle — autonomously.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974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7A6"/>
                </a:solidFill>
                <a:latin typeface="Calibri"/>
              </a:rPr>
              <a:t>Statistical ML identifies anomalies.
LLM reasoning diagnoses root cause and selects action.
No human intervention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977639"/>
            <a:ext cx="850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00D4FF"/>
                </a:solidFill>
                <a:latin typeface="Courier New"/>
              </a:rPr>
              <a:t>https://github.com/nigerianpickle/Autonomous-AIOps-Agent</a:t>
            </a:r>
            <a:endParaRPr sz="1400" b="0" dirty="0">
              <a:solidFill>
                <a:srgbClr val="00D4FF"/>
              </a:solidFill>
              <a:latin typeface="Courier New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800" y="4526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8677A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1085</Words>
  <Application>Microsoft Office PowerPoint</Application>
  <PresentationFormat>Custom</PresentationFormat>
  <Paragraphs>184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Nwogo</dc:creator>
  <cp:keywords/>
  <dc:description>generated using python-pptx</dc:description>
  <cp:lastModifiedBy>Daniel Nwogo</cp:lastModifiedBy>
  <cp:revision>2</cp:revision>
  <dcterms:created xsi:type="dcterms:W3CDTF">2013-01-27T09:14:16Z</dcterms:created>
  <dcterms:modified xsi:type="dcterms:W3CDTF">2026-03-03T19:23:06Z</dcterms:modified>
  <cp:category/>
</cp:coreProperties>
</file>